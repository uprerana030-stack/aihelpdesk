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59D2FE-C54F-4FEF-9A4C-C8F2A9B9EA60}" v="8" dt="2026-07-06T06:12:10.1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, S Vijaya (Contractor)" userId="d570d532-3083-4dce-ac18-6fc5d7d51e1c" providerId="ADAL" clId="{2B5F4443-DF23-4912-A0F8-F21DA00389B2}"/>
    <pc:docChg chg="undo custSel modSld">
      <pc:chgData name="Kumar, S Vijaya (Contractor)" userId="d570d532-3083-4dce-ac18-6fc5d7d51e1c" providerId="ADAL" clId="{2B5F4443-DF23-4912-A0F8-F21DA00389B2}" dt="2026-07-06T06:12:10.150" v="7" actId="21"/>
      <pc:docMkLst>
        <pc:docMk/>
      </pc:docMkLst>
      <pc:sldChg chg="addSp delSp modSp mod">
        <pc:chgData name="Kumar, S Vijaya (Contractor)" userId="d570d532-3083-4dce-ac18-6fc5d7d51e1c" providerId="ADAL" clId="{2B5F4443-DF23-4912-A0F8-F21DA00389B2}" dt="2026-07-06T06:12:10.150" v="7" actId="21"/>
        <pc:sldMkLst>
          <pc:docMk/>
          <pc:sldMk cId="0" sldId="261"/>
        </pc:sldMkLst>
        <pc:picChg chg="add del mod">
          <ac:chgData name="Kumar, S Vijaya (Contractor)" userId="d570d532-3083-4dce-ac18-6fc5d7d51e1c" providerId="ADAL" clId="{2B5F4443-DF23-4912-A0F8-F21DA00389B2}" dt="2026-07-06T06:12:10.150" v="7" actId="21"/>
          <ac:picMkLst>
            <pc:docMk/>
            <pc:sldMk cId="0" sldId="261"/>
            <ac:picMk id="8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431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8640" y="45720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338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Cognizant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841248" y="6583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O C H I</a:t>
            </a:r>
            <a:endParaRPr lang="en-US" sz="85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IT/Admin</a:t>
            </a:r>
            <a:endParaRPr lang="en-US" sz="440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Helpdesk Router</a:t>
            </a:r>
            <a:endParaRPr lang="en-US" sz="4400"/>
          </a:p>
        </p:txBody>
      </p:sp>
      <p:sp>
        <p:nvSpPr>
          <p:cNvPr id="9" name="Text 7"/>
          <p:cNvSpPr/>
          <p:nvPr/>
        </p:nvSpPr>
        <p:spPr>
          <a:xfrm>
            <a:off x="548640" y="4343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ticket classification, RAG-based resolution, and smart escalation for faster, more reliable employee support.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081735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2960" y="5184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822960" y="5513832"/>
            <a:ext cx="2491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Nagesh Naik J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822960" y="5897880"/>
            <a:ext cx="2491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2496969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3589020" y="5513832"/>
            <a:ext cx="2491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Suhas Mokhashi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3589020" y="5897880"/>
            <a:ext cx="2491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2496817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6355080" y="5513832"/>
            <a:ext cx="2491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Vijaya Kumar S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6355080" y="5897880"/>
            <a:ext cx="2491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2496942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9121140" y="5513832"/>
            <a:ext cx="2491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Prerana U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9121140" y="5897880"/>
            <a:ext cx="2491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2496812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95528" y="201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Cognizant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795528" y="5212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O C H I</a:t>
            </a:r>
            <a:endParaRPr lang="en-US" sz="85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/>
          </a:p>
        </p:txBody>
      </p:sp>
      <p:sp>
        <p:nvSpPr>
          <p:cNvPr id="6" name="Text 4"/>
          <p:cNvSpPr/>
          <p:nvPr/>
        </p:nvSpPr>
        <p:spPr>
          <a:xfrm>
            <a:off x="502920" y="13533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AI Helpdesk system is designed to achieve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502920" y="1755648"/>
            <a:ext cx="3547872" cy="1420368"/>
          </a:xfrm>
          <a:prstGeom prst="roundRect">
            <a:avLst>
              <a:gd name="adj" fmla="val 45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" y="1920240"/>
            <a:ext cx="402336" cy="402336"/>
          </a:xfrm>
          <a:prstGeom prst="ellipse">
            <a:avLst/>
          </a:prstGeom>
          <a:solidFill>
            <a:srgbClr val="0B1F4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/home/claude/assets/icons/tick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020824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2377440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Helpdesk Management</a:t>
            </a:r>
            <a:endParaRPr lang="en-US" sz="1250"/>
          </a:p>
        </p:txBody>
      </p:sp>
      <p:sp>
        <p:nvSpPr>
          <p:cNvPr id="11" name="Text 8"/>
          <p:cNvSpPr/>
          <p:nvPr/>
        </p:nvSpPr>
        <p:spPr>
          <a:xfrm>
            <a:off x="685800" y="2688336"/>
            <a:ext cx="3182112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employee support requests efficiently end to end.</a:t>
            </a:r>
            <a:endParaRPr lang="en-US" sz="1000"/>
          </a:p>
        </p:txBody>
      </p:sp>
      <p:sp>
        <p:nvSpPr>
          <p:cNvPr id="12" name="Shape 9"/>
          <p:cNvSpPr/>
          <p:nvPr/>
        </p:nvSpPr>
        <p:spPr>
          <a:xfrm>
            <a:off x="4306824" y="1755648"/>
            <a:ext cx="3547872" cy="1420368"/>
          </a:xfrm>
          <a:prstGeom prst="roundRect">
            <a:avLst>
              <a:gd name="adj" fmla="val 45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489704" y="1920240"/>
            <a:ext cx="402336" cy="402336"/>
          </a:xfrm>
          <a:prstGeom prst="ellipse">
            <a:avLst/>
          </a:prstGeom>
          <a:solidFill>
            <a:srgbClr val="0B1F4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/home/claude/assets/icons/tag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2020824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89704" y="2377440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Classification</a:t>
            </a:r>
            <a:endParaRPr lang="en-US" sz="1250"/>
          </a:p>
        </p:txBody>
      </p:sp>
      <p:sp>
        <p:nvSpPr>
          <p:cNvPr id="16" name="Text 12"/>
          <p:cNvSpPr/>
          <p:nvPr/>
        </p:nvSpPr>
        <p:spPr>
          <a:xfrm>
            <a:off x="4489704" y="2688336"/>
            <a:ext cx="3182112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tickets by category — IT, HR, finance, or network.</a:t>
            </a:r>
            <a:endParaRPr lang="en-US" sz="1000"/>
          </a:p>
        </p:txBody>
      </p:sp>
      <p:sp>
        <p:nvSpPr>
          <p:cNvPr id="17" name="Shape 13"/>
          <p:cNvSpPr/>
          <p:nvPr/>
        </p:nvSpPr>
        <p:spPr>
          <a:xfrm>
            <a:off x="8110728" y="1755648"/>
            <a:ext cx="3547872" cy="1420368"/>
          </a:xfrm>
          <a:prstGeom prst="roundRect">
            <a:avLst>
              <a:gd name="adj" fmla="val 45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8293608" y="1920240"/>
            <a:ext cx="402336" cy="402336"/>
          </a:xfrm>
          <a:prstGeom prst="ellipse">
            <a:avLst/>
          </a:prstGeom>
          <a:solidFill>
            <a:srgbClr val="0B1F4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/home/claude/assets/icons/priorit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2020824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93608" y="2377440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Assignment</a:t>
            </a:r>
            <a:endParaRPr lang="en-US" sz="1250"/>
          </a:p>
        </p:txBody>
      </p:sp>
      <p:sp>
        <p:nvSpPr>
          <p:cNvPr id="21" name="Text 16"/>
          <p:cNvSpPr/>
          <p:nvPr/>
        </p:nvSpPr>
        <p:spPr>
          <a:xfrm>
            <a:off x="8293608" y="2688336"/>
            <a:ext cx="3182112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 urgency based on issue type and impact.</a:t>
            </a:r>
            <a:endParaRPr lang="en-US" sz="1000"/>
          </a:p>
        </p:txBody>
      </p:sp>
      <p:sp>
        <p:nvSpPr>
          <p:cNvPr id="22" name="Shape 17"/>
          <p:cNvSpPr/>
          <p:nvPr/>
        </p:nvSpPr>
        <p:spPr>
          <a:xfrm>
            <a:off x="502920" y="3358896"/>
            <a:ext cx="3547872" cy="1420368"/>
          </a:xfrm>
          <a:prstGeom prst="roundRect">
            <a:avLst>
              <a:gd name="adj" fmla="val 45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685800" y="3523488"/>
            <a:ext cx="402336" cy="402336"/>
          </a:xfrm>
          <a:prstGeom prst="ellipse">
            <a:avLst/>
          </a:prstGeom>
          <a:solidFill>
            <a:srgbClr val="0B1F4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/home/claude/assets/icons/duplicat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3624072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5800" y="3980688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250"/>
          </a:p>
        </p:txBody>
      </p:sp>
      <p:sp>
        <p:nvSpPr>
          <p:cNvPr id="26" name="Text 20"/>
          <p:cNvSpPr/>
          <p:nvPr/>
        </p:nvSpPr>
        <p:spPr>
          <a:xfrm>
            <a:off x="685800" y="4291584"/>
            <a:ext cx="3182112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semantic similarity to avoid repeated resolution work.</a:t>
            </a:r>
            <a:endParaRPr lang="en-US" sz="1000"/>
          </a:p>
        </p:txBody>
      </p:sp>
      <p:sp>
        <p:nvSpPr>
          <p:cNvPr id="27" name="Shape 21"/>
          <p:cNvSpPr/>
          <p:nvPr/>
        </p:nvSpPr>
        <p:spPr>
          <a:xfrm>
            <a:off x="4306824" y="3358896"/>
            <a:ext cx="3547872" cy="1420368"/>
          </a:xfrm>
          <a:prstGeom prst="roundRect">
            <a:avLst>
              <a:gd name="adj" fmla="val 45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2"/>
          <p:cNvSpPr/>
          <p:nvPr/>
        </p:nvSpPr>
        <p:spPr>
          <a:xfrm>
            <a:off x="4489704" y="3523488"/>
            <a:ext cx="402336" cy="402336"/>
          </a:xfrm>
          <a:prstGeom prst="ellipse">
            <a:avLst/>
          </a:prstGeom>
          <a:solidFill>
            <a:srgbClr val="0B1F4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4" descr="/home/claude/assets/icons/rag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0288" y="3624072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489704" y="3980688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Resolution</a:t>
            </a:r>
            <a:endParaRPr lang="en-US" sz="1250"/>
          </a:p>
        </p:txBody>
      </p:sp>
      <p:sp>
        <p:nvSpPr>
          <p:cNvPr id="31" name="Text 24"/>
          <p:cNvSpPr/>
          <p:nvPr/>
        </p:nvSpPr>
        <p:spPr>
          <a:xfrm>
            <a:off x="4489704" y="4291584"/>
            <a:ext cx="3182112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knowledge base info and generate accurate answers.</a:t>
            </a:r>
            <a:endParaRPr lang="en-US" sz="1000"/>
          </a:p>
        </p:txBody>
      </p:sp>
      <p:sp>
        <p:nvSpPr>
          <p:cNvPr id="32" name="Shape 25"/>
          <p:cNvSpPr/>
          <p:nvPr/>
        </p:nvSpPr>
        <p:spPr>
          <a:xfrm>
            <a:off x="8110728" y="3358896"/>
            <a:ext cx="3547872" cy="1420368"/>
          </a:xfrm>
          <a:prstGeom prst="roundRect">
            <a:avLst>
              <a:gd name="adj" fmla="val 45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26"/>
          <p:cNvSpPr/>
          <p:nvPr/>
        </p:nvSpPr>
        <p:spPr>
          <a:xfrm>
            <a:off x="8293608" y="3523488"/>
            <a:ext cx="402336" cy="402336"/>
          </a:xfrm>
          <a:prstGeom prst="ellipse">
            <a:avLst/>
          </a:prstGeom>
          <a:solidFill>
            <a:srgbClr val="0B1F4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5" descr="/home/claude/assets/icons/chec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4192" y="3624072"/>
            <a:ext cx="201168" cy="20116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293608" y="3980688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Auto-Resolve Common Tickets</a:t>
            </a:r>
            <a:endParaRPr lang="en-US" sz="1250"/>
          </a:p>
        </p:txBody>
      </p:sp>
      <p:sp>
        <p:nvSpPr>
          <p:cNvPr id="36" name="Text 28"/>
          <p:cNvSpPr/>
          <p:nvPr/>
        </p:nvSpPr>
        <p:spPr>
          <a:xfrm>
            <a:off x="8293608" y="4291584"/>
            <a:ext cx="3182112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issues automatically when confidence is high.</a:t>
            </a:r>
            <a:endParaRPr lang="en-US" sz="1000"/>
          </a:p>
        </p:txBody>
      </p:sp>
      <p:sp>
        <p:nvSpPr>
          <p:cNvPr id="37" name="Shape 29"/>
          <p:cNvSpPr/>
          <p:nvPr/>
        </p:nvSpPr>
        <p:spPr>
          <a:xfrm>
            <a:off x="502920" y="4962144"/>
            <a:ext cx="3547872" cy="1420368"/>
          </a:xfrm>
          <a:prstGeom prst="roundRect">
            <a:avLst>
              <a:gd name="adj" fmla="val 45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0"/>
          <p:cNvSpPr/>
          <p:nvPr/>
        </p:nvSpPr>
        <p:spPr>
          <a:xfrm>
            <a:off x="685800" y="5126736"/>
            <a:ext cx="402336" cy="402336"/>
          </a:xfrm>
          <a:prstGeom prst="ellipse">
            <a:avLst/>
          </a:prstGeom>
          <a:solidFill>
            <a:srgbClr val="0B1F4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9" name="Image 6" descr="/home/claude/assets/icons/escalat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384" y="5227320"/>
            <a:ext cx="201168" cy="20116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85800" y="558393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Escalation</a:t>
            </a:r>
            <a:endParaRPr lang="en-US" sz="1250"/>
          </a:p>
        </p:txBody>
      </p:sp>
      <p:sp>
        <p:nvSpPr>
          <p:cNvPr id="41" name="Text 32"/>
          <p:cNvSpPr/>
          <p:nvPr/>
        </p:nvSpPr>
        <p:spPr>
          <a:xfrm>
            <a:off x="685800" y="5894832"/>
            <a:ext cx="3182112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complex/low-confidence tickets to Agent, L2, L3, or vendor.</a:t>
            </a:r>
            <a:endParaRPr lang="en-US" sz="1000"/>
          </a:p>
        </p:txBody>
      </p:sp>
      <p:sp>
        <p:nvSpPr>
          <p:cNvPr id="42" name="Shape 33"/>
          <p:cNvSpPr/>
          <p:nvPr/>
        </p:nvSpPr>
        <p:spPr>
          <a:xfrm>
            <a:off x="4306824" y="4962144"/>
            <a:ext cx="3547872" cy="1420368"/>
          </a:xfrm>
          <a:prstGeom prst="roundRect">
            <a:avLst>
              <a:gd name="adj" fmla="val 45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34"/>
          <p:cNvSpPr/>
          <p:nvPr/>
        </p:nvSpPr>
        <p:spPr>
          <a:xfrm>
            <a:off x="4489704" y="5126736"/>
            <a:ext cx="402336" cy="402336"/>
          </a:xfrm>
          <a:prstGeom prst="ellipse">
            <a:avLst/>
          </a:prstGeom>
          <a:solidFill>
            <a:srgbClr val="0B1F4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4" name="Image 7" descr="/home/claude/assets/icons/history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0288" y="5227320"/>
            <a:ext cx="201168" cy="201168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4489704" y="558393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Feedback Trail</a:t>
            </a:r>
            <a:endParaRPr lang="en-US" sz="1250"/>
          </a:p>
        </p:txBody>
      </p:sp>
      <p:sp>
        <p:nvSpPr>
          <p:cNvPr id="46" name="Text 36"/>
          <p:cNvSpPr/>
          <p:nvPr/>
        </p:nvSpPr>
        <p:spPr>
          <a:xfrm>
            <a:off x="4489704" y="5894832"/>
            <a:ext cx="3182112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ticket history, audit logs, and feedback for tracking.</a:t>
            </a:r>
            <a:endParaRPr lang="en-US" sz="1000"/>
          </a:p>
        </p:txBody>
      </p:sp>
      <p:sp>
        <p:nvSpPr>
          <p:cNvPr id="47" name="Shape 37"/>
          <p:cNvSpPr/>
          <p:nvPr/>
        </p:nvSpPr>
        <p:spPr>
          <a:xfrm>
            <a:off x="8110728" y="4962144"/>
            <a:ext cx="3547872" cy="1420368"/>
          </a:xfrm>
          <a:prstGeom prst="roundRect">
            <a:avLst>
              <a:gd name="adj" fmla="val 45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38"/>
          <p:cNvSpPr/>
          <p:nvPr/>
        </p:nvSpPr>
        <p:spPr>
          <a:xfrm>
            <a:off x="8293608" y="5126736"/>
            <a:ext cx="402336" cy="402336"/>
          </a:xfrm>
          <a:prstGeom prst="ellipse">
            <a:avLst/>
          </a:prstGeom>
          <a:solidFill>
            <a:srgbClr val="0B1F4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9" name="Image 8" descr="/home/claude/assets/icons/efficiency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94192" y="5227320"/>
            <a:ext cx="201168" cy="201168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8293608" y="558393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Support Efficiency</a:t>
            </a:r>
            <a:endParaRPr lang="en-US" sz="1250"/>
          </a:p>
        </p:txBody>
      </p:sp>
      <p:sp>
        <p:nvSpPr>
          <p:cNvPr id="51" name="Text 40"/>
          <p:cNvSpPr/>
          <p:nvPr/>
        </p:nvSpPr>
        <p:spPr>
          <a:xfrm>
            <a:off x="8293608" y="5894832"/>
            <a:ext cx="3182112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effort and improve response times overall.</a:t>
            </a:r>
            <a:endParaRPr lang="en-US" sz="1000"/>
          </a:p>
        </p:txBody>
      </p:sp>
      <p:sp>
        <p:nvSpPr>
          <p:cNvPr id="52" name="Text 4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IT/Admin Helpdesk Router</a:t>
            </a:r>
            <a:endParaRPr lang="en-US" sz="900"/>
          </a:p>
        </p:txBody>
      </p:sp>
      <p:sp>
        <p:nvSpPr>
          <p:cNvPr id="53" name="Text 4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B1F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95528" y="201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Cognizant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795528" y="5212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O C H I</a:t>
            </a:r>
            <a:endParaRPr lang="en-US" sz="85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/>
          </a:p>
        </p:txBody>
      </p:sp>
      <p:sp>
        <p:nvSpPr>
          <p:cNvPr id="8" name="Text 6"/>
          <p:cNvSpPr/>
          <p:nvPr/>
        </p:nvSpPr>
        <p:spPr>
          <a:xfrm>
            <a:off x="502920" y="30632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2800"/>
          </a:p>
          <a:p>
            <a:pPr marL="0" indent="0">
              <a:lnSpc>
                <a:spcPct val="105000"/>
              </a:lnSpc>
              <a:buNone/>
            </a:pPr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Statement</a:t>
            </a:r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4617720" y="1508760"/>
            <a:ext cx="702259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b="1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ticket handling is slow and error-prone.</a:t>
            </a:r>
            <a:endParaRPr lang="en-US" sz="1600"/>
          </a:p>
          <a:p>
            <a:pPr marL="0" lvl="1" indent="0">
              <a:spcAft>
                <a:spcPts val="1800"/>
              </a:spcAft>
              <a:buNone/>
            </a:pPr>
            <a:r>
              <a:rPr lang="en-US" sz="1300" b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receive many IT and admin support requests daily, often in natural language, requiring manual effort to identify, categorize, and route each ticket.</a:t>
            </a:r>
            <a:endParaRPr lang="en-US" sz="160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b="1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causes delays, misrouting, and overload.</a:t>
            </a:r>
            <a:endParaRPr lang="en-US" sz="1600"/>
          </a:p>
          <a:p>
            <a:pPr marL="0" lvl="1" indent="0">
              <a:spcAft>
                <a:spcPts val="1800"/>
              </a:spcAft>
              <a:buNone/>
            </a:pPr>
            <a:r>
              <a:rPr lang="en-US" sz="1300" b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is time-consuming and increases workload on helpdesk staff, leading to delayed responses and incorrect ticket routing.</a:t>
            </a:r>
            <a:endParaRPr lang="en-US" sz="160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b="1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solutions go unused.</a:t>
            </a:r>
            <a:endParaRPr lang="en-US" sz="1600"/>
          </a:p>
          <a:p>
            <a:pPr marL="0" lvl="1" indent="0">
              <a:buNone/>
            </a:pPr>
            <a:r>
              <a:rPr lang="en-US" sz="1300" b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common issues already have documented solutions in the knowledge base, yet employees still raise tickets — adding unnecessary work.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IT/Admin Helpdesk Router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95528" y="201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Cognizant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795528" y="5212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O C H I</a:t>
            </a:r>
            <a:endParaRPr lang="en-US" sz="85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000"/>
          </a:p>
        </p:txBody>
      </p:sp>
      <p:sp>
        <p:nvSpPr>
          <p:cNvPr id="6" name="Text 4"/>
          <p:cNvSpPr/>
          <p:nvPr/>
        </p:nvSpPr>
        <p:spPr>
          <a:xfrm>
            <a:off x="502920" y="13533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IT/Admin Helpdesk Router powered by AI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11155680" cy="1143000"/>
          </a:xfrm>
          <a:prstGeom prst="roundRect">
            <a:avLst>
              <a:gd name="adj" fmla="val 6400"/>
            </a:avLst>
          </a:prstGeom>
          <a:solidFill>
            <a:srgbClr val="0B1F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uses AI to understand user requests, automatically classify tickets, retrieve relevant solutions from a knowledge base using Retrieval-Augmented Generation (RAG), and deliver instant responses for common issues — routing anything it cannot resolve to the right support team.</a:t>
            </a:r>
            <a:endParaRPr lang="en-US" sz="1350"/>
          </a:p>
        </p:txBody>
      </p:sp>
      <p:sp>
        <p:nvSpPr>
          <p:cNvPr id="9" name="Shape 7"/>
          <p:cNvSpPr/>
          <p:nvPr/>
        </p:nvSpPr>
        <p:spPr>
          <a:xfrm>
            <a:off x="502920" y="3383280"/>
            <a:ext cx="2596896" cy="2606040"/>
          </a:xfrm>
          <a:prstGeom prst="roundRect">
            <a:avLst>
              <a:gd name="adj" fmla="val 246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508760" y="3639312"/>
            <a:ext cx="585216" cy="58521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0" descr="/home/claude/assets/icons/robo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776" y="3767328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434340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/>
          </a:p>
        </p:txBody>
      </p:sp>
      <p:sp>
        <p:nvSpPr>
          <p:cNvPr id="13" name="Text 10"/>
          <p:cNvSpPr/>
          <p:nvPr/>
        </p:nvSpPr>
        <p:spPr>
          <a:xfrm>
            <a:off x="640080" y="461772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500"/>
          </a:p>
        </p:txBody>
      </p:sp>
      <p:sp>
        <p:nvSpPr>
          <p:cNvPr id="14" name="Text 11"/>
          <p:cNvSpPr/>
          <p:nvPr/>
        </p:nvSpPr>
        <p:spPr>
          <a:xfrm>
            <a:off x="704088" y="5029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natural-language requests using AI/NLP.</a:t>
            </a:r>
            <a:endParaRPr lang="en-US" sz="1050"/>
          </a:p>
        </p:txBody>
      </p:sp>
      <p:sp>
        <p:nvSpPr>
          <p:cNvPr id="15" name="Text 12"/>
          <p:cNvSpPr/>
          <p:nvPr/>
        </p:nvSpPr>
        <p:spPr>
          <a:xfrm>
            <a:off x="3099816" y="44577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/>
          </a:p>
        </p:txBody>
      </p:sp>
      <p:sp>
        <p:nvSpPr>
          <p:cNvPr id="16" name="Shape 13"/>
          <p:cNvSpPr/>
          <p:nvPr/>
        </p:nvSpPr>
        <p:spPr>
          <a:xfrm>
            <a:off x="3355848" y="3383280"/>
            <a:ext cx="2596896" cy="2606040"/>
          </a:xfrm>
          <a:prstGeom prst="roundRect">
            <a:avLst>
              <a:gd name="adj" fmla="val 246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4361688" y="3639312"/>
            <a:ext cx="585216" cy="58521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1" descr="/home/claude/assets/icons/tag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704" y="3767328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355848" y="434340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/>
          </a:p>
        </p:txBody>
      </p:sp>
      <p:sp>
        <p:nvSpPr>
          <p:cNvPr id="20" name="Text 16"/>
          <p:cNvSpPr/>
          <p:nvPr/>
        </p:nvSpPr>
        <p:spPr>
          <a:xfrm>
            <a:off x="3493008" y="461772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500"/>
          </a:p>
        </p:txBody>
      </p:sp>
      <p:sp>
        <p:nvSpPr>
          <p:cNvPr id="21" name="Text 17"/>
          <p:cNvSpPr/>
          <p:nvPr/>
        </p:nvSpPr>
        <p:spPr>
          <a:xfrm>
            <a:off x="3557016" y="5029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Auto-categorizes tickets by type and department.</a:t>
            </a:r>
            <a:endParaRPr lang="en-US" sz="1050"/>
          </a:p>
        </p:txBody>
      </p:sp>
      <p:sp>
        <p:nvSpPr>
          <p:cNvPr id="22" name="Text 18"/>
          <p:cNvSpPr/>
          <p:nvPr/>
        </p:nvSpPr>
        <p:spPr>
          <a:xfrm>
            <a:off x="5952744" y="44577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/>
          </a:p>
        </p:txBody>
      </p:sp>
      <p:sp>
        <p:nvSpPr>
          <p:cNvPr id="23" name="Shape 19"/>
          <p:cNvSpPr/>
          <p:nvPr/>
        </p:nvSpPr>
        <p:spPr>
          <a:xfrm>
            <a:off x="6208776" y="3383280"/>
            <a:ext cx="2596896" cy="2606040"/>
          </a:xfrm>
          <a:prstGeom prst="roundRect">
            <a:avLst>
              <a:gd name="adj" fmla="val 246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7214616" y="3639312"/>
            <a:ext cx="585216" cy="58521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2" descr="/home/claude/assets/icons/rag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632" y="3767328"/>
            <a:ext cx="329184" cy="32918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08776" y="434340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/>
          </a:p>
        </p:txBody>
      </p:sp>
      <p:sp>
        <p:nvSpPr>
          <p:cNvPr id="27" name="Text 22"/>
          <p:cNvSpPr/>
          <p:nvPr/>
        </p:nvSpPr>
        <p:spPr>
          <a:xfrm>
            <a:off x="6345936" y="461772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500"/>
          </a:p>
        </p:txBody>
      </p:sp>
      <p:sp>
        <p:nvSpPr>
          <p:cNvPr id="28" name="Text 23"/>
          <p:cNvSpPr/>
          <p:nvPr/>
        </p:nvSpPr>
        <p:spPr>
          <a:xfrm>
            <a:off x="6409944" y="5029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relevant knowledge-base content via RAG.</a:t>
            </a:r>
            <a:endParaRPr lang="en-US" sz="1050"/>
          </a:p>
        </p:txBody>
      </p:sp>
      <p:sp>
        <p:nvSpPr>
          <p:cNvPr id="29" name="Text 24"/>
          <p:cNvSpPr/>
          <p:nvPr/>
        </p:nvSpPr>
        <p:spPr>
          <a:xfrm>
            <a:off x="8805672" y="44577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/>
          </a:p>
        </p:txBody>
      </p:sp>
      <p:sp>
        <p:nvSpPr>
          <p:cNvPr id="30" name="Shape 25"/>
          <p:cNvSpPr/>
          <p:nvPr/>
        </p:nvSpPr>
        <p:spPr>
          <a:xfrm>
            <a:off x="9061704" y="3383280"/>
            <a:ext cx="2596896" cy="2606040"/>
          </a:xfrm>
          <a:prstGeom prst="roundRect">
            <a:avLst>
              <a:gd name="adj" fmla="val 246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6"/>
          <p:cNvSpPr/>
          <p:nvPr/>
        </p:nvSpPr>
        <p:spPr>
          <a:xfrm>
            <a:off x="10067544" y="3639312"/>
            <a:ext cx="585216" cy="58521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3" descr="/home/claude/assets/icons/check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5560" y="3767328"/>
            <a:ext cx="329184" cy="32918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061704" y="434340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/>
          </a:p>
        </p:txBody>
      </p:sp>
      <p:sp>
        <p:nvSpPr>
          <p:cNvPr id="34" name="Text 28"/>
          <p:cNvSpPr/>
          <p:nvPr/>
        </p:nvSpPr>
        <p:spPr>
          <a:xfrm>
            <a:off x="9198864" y="461772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or Route</a:t>
            </a:r>
            <a:endParaRPr lang="en-US" sz="1500"/>
          </a:p>
        </p:txBody>
      </p:sp>
      <p:sp>
        <p:nvSpPr>
          <p:cNvPr id="35" name="Text 29"/>
          <p:cNvSpPr/>
          <p:nvPr/>
        </p:nvSpPr>
        <p:spPr>
          <a:xfrm>
            <a:off x="9262872" y="5029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Auto-resolves confident cases; escalates the rest.</a:t>
            </a:r>
            <a:endParaRPr lang="en-US" sz="1050"/>
          </a:p>
        </p:txBody>
      </p:sp>
      <p:sp>
        <p:nvSpPr>
          <p:cNvPr id="36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IT/Admin Helpdesk Router</a:t>
            </a:r>
            <a:endParaRPr lang="en-US" sz="900"/>
          </a:p>
        </p:txBody>
      </p:sp>
      <p:sp>
        <p:nvSpPr>
          <p:cNvPr id="37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95528" y="155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Cognizant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795528" y="475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O C H I</a:t>
            </a:r>
            <a:endParaRPr lang="en-US" sz="85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React.js, FastAPI, multi-agent AI, RAG, and SQLite</a:t>
            </a:r>
            <a:endParaRPr lang="en-US" sz="1250"/>
          </a:p>
        </p:txBody>
      </p:sp>
      <p:sp>
        <p:nvSpPr>
          <p:cNvPr id="7" name="Shape 5"/>
          <p:cNvSpPr/>
          <p:nvPr/>
        </p:nvSpPr>
        <p:spPr>
          <a:xfrm>
            <a:off x="2151126" y="1490472"/>
            <a:ext cx="7886700" cy="5349240"/>
          </a:xfrm>
          <a:prstGeom prst="roundRect">
            <a:avLst>
              <a:gd name="adj" fmla="val 1026"/>
            </a:avLst>
          </a:prstGeom>
          <a:solidFill>
            <a:srgbClr val="F5F8FC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0" descr="/home/claude/assets/techs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286" y="1627632"/>
            <a:ext cx="7612380" cy="5074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IT/Admin Helpdesk Router</a:t>
            </a:r>
            <a:endParaRPr lang="en-US" sz="90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95528" y="155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Cognizant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795528" y="475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O C H I</a:t>
            </a:r>
            <a:endParaRPr lang="en-US" sz="85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Workflow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ticket submission to resolution, duplicate handling, and escalation</a:t>
            </a:r>
            <a:endParaRPr lang="en-US" sz="1250"/>
          </a:p>
        </p:txBody>
      </p:sp>
      <p:sp>
        <p:nvSpPr>
          <p:cNvPr id="7" name="Shape 5"/>
          <p:cNvSpPr/>
          <p:nvPr/>
        </p:nvSpPr>
        <p:spPr>
          <a:xfrm>
            <a:off x="4342886" y="1435608"/>
            <a:ext cx="3503181" cy="5120640"/>
          </a:xfrm>
          <a:prstGeom prst="roundRect">
            <a:avLst>
              <a:gd name="adj" fmla="val 1566"/>
            </a:avLst>
          </a:prstGeom>
          <a:solidFill>
            <a:srgbClr val="F5F8FC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0" descr="/home/claude/assets/workflow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045" y="1431036"/>
            <a:ext cx="3228861" cy="4846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IT/Admin Helpdesk Router</a:t>
            </a:r>
            <a:endParaRPr lang="en-US" sz="90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95528" y="155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Cognizant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795528" y="475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O C H I</a:t>
            </a:r>
            <a:endParaRPr lang="en-US" sz="85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client, FastAPI gateway, multi-agent AI engine, and ChromaDB vector store</a:t>
            </a:r>
            <a:endParaRPr lang="en-US" sz="125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2651760" cy="4480560"/>
          </a:xfrm>
          <a:prstGeom prst="roundRect">
            <a:avLst>
              <a:gd name="adj" fmla="val 2069"/>
            </a:avLst>
          </a:prstGeom>
          <a:solidFill>
            <a:srgbClr val="13294B">
              <a:alpha val="60000"/>
            </a:srgbClr>
          </a:solidFill>
          <a:ln w="12700">
            <a:solidFill>
              <a:srgbClr val="5B6B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1792" y="184708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Client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0" descr="/home/claude/assets/icons/react_149E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2316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24505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500"/>
          </a:p>
        </p:txBody>
      </p:sp>
      <p:sp>
        <p:nvSpPr>
          <p:cNvPr id="12" name="Text 9"/>
          <p:cNvSpPr/>
          <p:nvPr/>
        </p:nvSpPr>
        <p:spPr>
          <a:xfrm>
            <a:off x="1463040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JS UI Framework</a:t>
            </a:r>
            <a:endParaRPr lang="en-US" sz="850"/>
          </a:p>
        </p:txBody>
      </p:sp>
      <p:pic>
        <p:nvPicPr>
          <p:cNvPr id="13" name="Image 1" descr="/home/claude/assets/icons/dashboar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520440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34747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/>
          </a:p>
        </p:txBody>
      </p:sp>
      <p:pic>
        <p:nvPicPr>
          <p:cNvPr id="15" name="Image 2" descr="/home/claude/assets/icons/ticketico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959352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39136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200"/>
          </a:p>
        </p:txBody>
      </p:sp>
      <p:pic>
        <p:nvPicPr>
          <p:cNvPr id="17" name="Image 3" descr="/home/claude/assets/icons/submi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398264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43525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Ticket</a:t>
            </a:r>
            <a:endParaRPr lang="en-US" sz="1200"/>
          </a:p>
        </p:txBody>
      </p:sp>
      <p:pic>
        <p:nvPicPr>
          <p:cNvPr id="19" name="Image 4" descr="/home/claude/assets/icons/aicha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837176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51560" y="47914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1200"/>
          </a:p>
        </p:txBody>
      </p:sp>
      <p:pic>
        <p:nvPicPr>
          <p:cNvPr id="21" name="Image 5" descr="/home/claude/assets/icons/others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5276088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51560" y="52303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Others...</a:t>
            </a:r>
            <a:endParaRPr lang="en-US" sz="1200"/>
          </a:p>
        </p:txBody>
      </p:sp>
      <p:sp>
        <p:nvSpPr>
          <p:cNvPr id="23" name="Shape 15"/>
          <p:cNvSpPr/>
          <p:nvPr/>
        </p:nvSpPr>
        <p:spPr>
          <a:xfrm>
            <a:off x="3291840" y="3520440"/>
            <a:ext cx="2011680" cy="777240"/>
          </a:xfrm>
          <a:prstGeom prst="roundRect">
            <a:avLst>
              <a:gd name="adj" fmla="val 8235"/>
            </a:avLst>
          </a:prstGeom>
          <a:solidFill>
            <a:srgbClr val="12A594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4" name="Image 6" descr="/home/claude/assets/icons/bolt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6432" y="3781044"/>
            <a:ext cx="256032" cy="25603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794760" y="35204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Gateway</a:t>
            </a:r>
            <a:endParaRPr lang="en-US" sz="1150"/>
          </a:p>
        </p:txBody>
      </p:sp>
      <p:sp>
        <p:nvSpPr>
          <p:cNvPr id="26" name="Shape 17"/>
          <p:cNvSpPr/>
          <p:nvPr/>
        </p:nvSpPr>
        <p:spPr>
          <a:xfrm>
            <a:off x="3291840" y="4709160"/>
            <a:ext cx="2011680" cy="1508760"/>
          </a:xfrm>
          <a:prstGeom prst="roundRect">
            <a:avLst>
              <a:gd name="adj" fmla="val 3636"/>
            </a:avLst>
          </a:prstGeom>
          <a:solidFill>
            <a:srgbClr val="13294B">
              <a:alpha val="60000"/>
            </a:srgbClr>
          </a:solidFill>
          <a:ln w="12700">
            <a:solidFill>
              <a:srgbClr val="5B6B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18"/>
          <p:cNvSpPr/>
          <p:nvPr/>
        </p:nvSpPr>
        <p:spPr>
          <a:xfrm>
            <a:off x="3456432" y="481888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200"/>
          </a:p>
        </p:txBody>
      </p:sp>
      <p:sp>
        <p:nvSpPr>
          <p:cNvPr id="28" name="Shape 19"/>
          <p:cNvSpPr/>
          <p:nvPr/>
        </p:nvSpPr>
        <p:spPr>
          <a:xfrm>
            <a:off x="3456432" y="5148072"/>
            <a:ext cx="786384" cy="292608"/>
          </a:xfrm>
          <a:prstGeom prst="roundRect">
            <a:avLst>
              <a:gd name="adj" fmla="val 15625"/>
            </a:avLst>
          </a:prstGeom>
          <a:solidFill>
            <a:srgbClr val="DCEBF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7" descr="/home/claude/assets/icons/db_1D5FA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47872" y="5202936"/>
            <a:ext cx="182880" cy="1828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3767328" y="5148072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1D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750"/>
          </a:p>
        </p:txBody>
      </p:sp>
      <p:sp>
        <p:nvSpPr>
          <p:cNvPr id="31" name="Shape 21"/>
          <p:cNvSpPr/>
          <p:nvPr/>
        </p:nvSpPr>
        <p:spPr>
          <a:xfrm>
            <a:off x="4352544" y="5148072"/>
            <a:ext cx="786384" cy="292608"/>
          </a:xfrm>
          <a:prstGeom prst="roundRect">
            <a:avLst>
              <a:gd name="adj" fmla="val 15625"/>
            </a:avLst>
          </a:prstGeom>
          <a:solidFill>
            <a:srgbClr val="FDEBD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8" descr="/home/claude/assets/icons/db_B9770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43984" y="5202936"/>
            <a:ext cx="182880" cy="18288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4663440" y="5148072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750"/>
          </a:p>
        </p:txBody>
      </p:sp>
      <p:sp>
        <p:nvSpPr>
          <p:cNvPr id="34" name="Shape 23"/>
          <p:cNvSpPr/>
          <p:nvPr/>
        </p:nvSpPr>
        <p:spPr>
          <a:xfrm>
            <a:off x="3456432" y="5550408"/>
            <a:ext cx="786384" cy="292608"/>
          </a:xfrm>
          <a:prstGeom prst="roundRect">
            <a:avLst>
              <a:gd name="adj" fmla="val 15625"/>
            </a:avLst>
          </a:prstGeom>
          <a:solidFill>
            <a:srgbClr val="DCEBF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9" descr="/home/claude/assets/icons/db_1D5FA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47872" y="5605272"/>
            <a:ext cx="182880" cy="18288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3767328" y="555040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1D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750"/>
          </a:p>
        </p:txBody>
      </p:sp>
      <p:sp>
        <p:nvSpPr>
          <p:cNvPr id="37" name="Shape 25"/>
          <p:cNvSpPr/>
          <p:nvPr/>
        </p:nvSpPr>
        <p:spPr>
          <a:xfrm>
            <a:off x="4352544" y="5550408"/>
            <a:ext cx="786384" cy="292608"/>
          </a:xfrm>
          <a:prstGeom prst="roundRect">
            <a:avLst>
              <a:gd name="adj" fmla="val 15625"/>
            </a:avLst>
          </a:prstGeom>
          <a:solidFill>
            <a:srgbClr val="FDEBD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10" descr="/home/claude/assets/icons/db_B9770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43984" y="5605272"/>
            <a:ext cx="182880" cy="18288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4663440" y="555040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750"/>
          </a:p>
        </p:txBody>
      </p:sp>
      <p:sp>
        <p:nvSpPr>
          <p:cNvPr id="40" name="Shape 27"/>
          <p:cNvSpPr/>
          <p:nvPr/>
        </p:nvSpPr>
        <p:spPr>
          <a:xfrm>
            <a:off x="3456432" y="5952744"/>
            <a:ext cx="786384" cy="292608"/>
          </a:xfrm>
          <a:prstGeom prst="roundRect">
            <a:avLst>
              <a:gd name="adj" fmla="val 15625"/>
            </a:avLst>
          </a:prstGeom>
          <a:solidFill>
            <a:srgbClr val="DCEBF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1" name="Image 11" descr="/home/claude/assets/icons/db_1D5FA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47872" y="6007608"/>
            <a:ext cx="182880" cy="182880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3767328" y="5952744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1D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750"/>
          </a:p>
        </p:txBody>
      </p:sp>
      <p:sp>
        <p:nvSpPr>
          <p:cNvPr id="43" name="Shape 29"/>
          <p:cNvSpPr/>
          <p:nvPr/>
        </p:nvSpPr>
        <p:spPr>
          <a:xfrm>
            <a:off x="5486400" y="1737360"/>
            <a:ext cx="3063240" cy="2423160"/>
          </a:xfrm>
          <a:prstGeom prst="roundRect">
            <a:avLst>
              <a:gd name="adj" fmla="val 2264"/>
            </a:avLst>
          </a:prstGeom>
          <a:solidFill>
            <a:srgbClr val="13294B">
              <a:alpha val="60000"/>
            </a:srgbClr>
          </a:solidFill>
          <a:ln w="12700">
            <a:solidFill>
              <a:srgbClr val="5B6B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30"/>
          <p:cNvSpPr/>
          <p:nvPr/>
        </p:nvSpPr>
        <p:spPr>
          <a:xfrm>
            <a:off x="5650992" y="1847088"/>
            <a:ext cx="2734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Engine</a:t>
            </a:r>
            <a:endParaRPr lang="en-US" sz="1200"/>
          </a:p>
        </p:txBody>
      </p:sp>
      <p:sp>
        <p:nvSpPr>
          <p:cNvPr id="45" name="Shape 31"/>
          <p:cNvSpPr/>
          <p:nvPr/>
        </p:nvSpPr>
        <p:spPr>
          <a:xfrm>
            <a:off x="5650992" y="2176272"/>
            <a:ext cx="1312164" cy="530352"/>
          </a:xfrm>
          <a:prstGeom prst="roundRect">
            <a:avLst>
              <a:gd name="adj" fmla="val 8621"/>
            </a:avLst>
          </a:prstGeom>
          <a:solidFill>
            <a:srgbClr val="DCF5E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Image 12" descr="/home/claude/assets/icons/intent_1F7A4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42432" y="2350008"/>
            <a:ext cx="182880" cy="182880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5961888" y="2176272"/>
            <a:ext cx="9281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Agent</a:t>
            </a:r>
            <a:endParaRPr lang="en-US" sz="900"/>
          </a:p>
        </p:txBody>
      </p:sp>
      <p:sp>
        <p:nvSpPr>
          <p:cNvPr id="48" name="Shape 33"/>
          <p:cNvSpPr/>
          <p:nvPr/>
        </p:nvSpPr>
        <p:spPr>
          <a:xfrm>
            <a:off x="7072884" y="2176272"/>
            <a:ext cx="1312164" cy="530352"/>
          </a:xfrm>
          <a:prstGeom prst="roundRect">
            <a:avLst>
              <a:gd name="adj" fmla="val 8621"/>
            </a:avLst>
          </a:prstGeom>
          <a:solidFill>
            <a:srgbClr val="DCF5E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9" name="Image 13" descr="/home/claude/assets/icons/ocr_1F7A4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64324" y="2350008"/>
            <a:ext cx="182880" cy="182880"/>
          </a:xfrm>
          <a:prstGeom prst="rect">
            <a:avLst/>
          </a:prstGeom>
        </p:spPr>
      </p:pic>
      <p:sp>
        <p:nvSpPr>
          <p:cNvPr id="50" name="Text 34"/>
          <p:cNvSpPr/>
          <p:nvPr/>
        </p:nvSpPr>
        <p:spPr>
          <a:xfrm>
            <a:off x="7383780" y="2176272"/>
            <a:ext cx="9281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Agent</a:t>
            </a:r>
            <a:endParaRPr lang="en-US" sz="900"/>
          </a:p>
        </p:txBody>
      </p:sp>
      <p:sp>
        <p:nvSpPr>
          <p:cNvPr id="51" name="Shape 35"/>
          <p:cNvSpPr/>
          <p:nvPr/>
        </p:nvSpPr>
        <p:spPr>
          <a:xfrm>
            <a:off x="5650992" y="2816352"/>
            <a:ext cx="1312164" cy="530352"/>
          </a:xfrm>
          <a:prstGeom prst="roundRect">
            <a:avLst>
              <a:gd name="adj" fmla="val 8621"/>
            </a:avLst>
          </a:prstGeom>
          <a:solidFill>
            <a:srgbClr val="DCF5E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2" name="Image 14" descr="/home/claude/assets/icons/vision_1F7A4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42432" y="2990088"/>
            <a:ext cx="182880" cy="182880"/>
          </a:xfrm>
          <a:prstGeom prst="rect">
            <a:avLst/>
          </a:prstGeom>
        </p:spPr>
      </p:pic>
      <p:sp>
        <p:nvSpPr>
          <p:cNvPr id="53" name="Text 36"/>
          <p:cNvSpPr/>
          <p:nvPr/>
        </p:nvSpPr>
        <p:spPr>
          <a:xfrm>
            <a:off x="5961888" y="2816352"/>
            <a:ext cx="9281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Agent</a:t>
            </a:r>
            <a:endParaRPr lang="en-US" sz="900"/>
          </a:p>
        </p:txBody>
      </p:sp>
      <p:sp>
        <p:nvSpPr>
          <p:cNvPr id="54" name="Shape 37"/>
          <p:cNvSpPr/>
          <p:nvPr/>
        </p:nvSpPr>
        <p:spPr>
          <a:xfrm>
            <a:off x="7072884" y="2816352"/>
            <a:ext cx="1312164" cy="530352"/>
          </a:xfrm>
          <a:prstGeom prst="roundRect">
            <a:avLst>
              <a:gd name="adj" fmla="val 8621"/>
            </a:avLst>
          </a:prstGeom>
          <a:solidFill>
            <a:srgbClr val="DCF5E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5" name="Image 15" descr="/home/claude/assets/icons/brain_1F7A4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64324" y="2990088"/>
            <a:ext cx="182880" cy="182880"/>
          </a:xfrm>
          <a:prstGeom prst="rect">
            <a:avLst/>
          </a:prstGeom>
        </p:spPr>
      </p:pic>
      <p:sp>
        <p:nvSpPr>
          <p:cNvPr id="56" name="Text 38"/>
          <p:cNvSpPr/>
          <p:nvPr/>
        </p:nvSpPr>
        <p:spPr>
          <a:xfrm>
            <a:off x="7383780" y="2816352"/>
            <a:ext cx="9281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Agent</a:t>
            </a:r>
            <a:endParaRPr lang="en-US" sz="900"/>
          </a:p>
        </p:txBody>
      </p:sp>
      <p:sp>
        <p:nvSpPr>
          <p:cNvPr id="57" name="Shape 39"/>
          <p:cNvSpPr/>
          <p:nvPr/>
        </p:nvSpPr>
        <p:spPr>
          <a:xfrm>
            <a:off x="5650992" y="3456432"/>
            <a:ext cx="1312164" cy="530352"/>
          </a:xfrm>
          <a:prstGeom prst="roundRect">
            <a:avLst>
              <a:gd name="adj" fmla="val 8621"/>
            </a:avLst>
          </a:prstGeom>
          <a:solidFill>
            <a:srgbClr val="DCF5E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8" name="Image 16" descr="/home/claude/assets/icons/brain_1F7A4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42432" y="3630168"/>
            <a:ext cx="182880" cy="182880"/>
          </a:xfrm>
          <a:prstGeom prst="rect">
            <a:avLst/>
          </a:prstGeom>
        </p:spPr>
      </p:pic>
      <p:sp>
        <p:nvSpPr>
          <p:cNvPr id="59" name="Text 40"/>
          <p:cNvSpPr/>
          <p:nvPr/>
        </p:nvSpPr>
        <p:spPr>
          <a:xfrm>
            <a:off x="5961888" y="3456432"/>
            <a:ext cx="9281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Agent</a:t>
            </a:r>
            <a:endParaRPr lang="en-US" sz="900"/>
          </a:p>
        </p:txBody>
      </p:sp>
      <p:sp>
        <p:nvSpPr>
          <p:cNvPr id="60" name="Shape 41"/>
          <p:cNvSpPr/>
          <p:nvPr/>
        </p:nvSpPr>
        <p:spPr>
          <a:xfrm>
            <a:off x="7072884" y="3456432"/>
            <a:ext cx="1312164" cy="530352"/>
          </a:xfrm>
          <a:prstGeom prst="roundRect">
            <a:avLst>
              <a:gd name="adj" fmla="val 8621"/>
            </a:avLst>
          </a:prstGeom>
          <a:solidFill>
            <a:srgbClr val="FDEBD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1" name="Image 17" descr="/home/claude/assets/icons/ragicon_B9770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64324" y="3630168"/>
            <a:ext cx="182880" cy="182880"/>
          </a:xfrm>
          <a:prstGeom prst="rect">
            <a:avLst/>
          </a:prstGeom>
        </p:spPr>
      </p:pic>
      <p:sp>
        <p:nvSpPr>
          <p:cNvPr id="62" name="Text 42"/>
          <p:cNvSpPr/>
          <p:nvPr/>
        </p:nvSpPr>
        <p:spPr>
          <a:xfrm>
            <a:off x="7383780" y="3456432"/>
            <a:ext cx="9281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Agent</a:t>
            </a:r>
            <a:endParaRPr lang="en-US" sz="900"/>
          </a:p>
        </p:txBody>
      </p:sp>
      <p:sp>
        <p:nvSpPr>
          <p:cNvPr id="63" name="Shape 43"/>
          <p:cNvSpPr/>
          <p:nvPr/>
        </p:nvSpPr>
        <p:spPr>
          <a:xfrm>
            <a:off x="5486400" y="4480560"/>
            <a:ext cx="3063240" cy="1737360"/>
          </a:xfrm>
          <a:prstGeom prst="roundRect">
            <a:avLst>
              <a:gd name="adj" fmla="val 3158"/>
            </a:avLst>
          </a:prstGeom>
          <a:solidFill>
            <a:srgbClr val="13294B">
              <a:alpha val="60000"/>
            </a:srgbClr>
          </a:solidFill>
          <a:ln w="12700">
            <a:solidFill>
              <a:srgbClr val="5B6B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44"/>
          <p:cNvSpPr/>
          <p:nvPr/>
        </p:nvSpPr>
        <p:spPr>
          <a:xfrm>
            <a:off x="5650992" y="4590288"/>
            <a:ext cx="2734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Store</a:t>
            </a:r>
            <a:endParaRPr lang="en-US" sz="1200"/>
          </a:p>
        </p:txBody>
      </p:sp>
      <p:sp>
        <p:nvSpPr>
          <p:cNvPr id="65" name="Shape 45"/>
          <p:cNvSpPr/>
          <p:nvPr/>
        </p:nvSpPr>
        <p:spPr>
          <a:xfrm>
            <a:off x="5650992" y="4983480"/>
            <a:ext cx="1312164" cy="566928"/>
          </a:xfrm>
          <a:prstGeom prst="roundRect">
            <a:avLst>
              <a:gd name="adj" fmla="val 8065"/>
            </a:avLst>
          </a:prstGeom>
          <a:solidFill>
            <a:srgbClr val="DCEBF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6" name="Image 18" descr="/home/claude/assets/icons/docchunk_1D5FA3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42432" y="5175504"/>
            <a:ext cx="182880" cy="182880"/>
          </a:xfrm>
          <a:prstGeom prst="rect">
            <a:avLst/>
          </a:prstGeom>
        </p:spPr>
      </p:pic>
      <p:sp>
        <p:nvSpPr>
          <p:cNvPr id="67" name="Text 46"/>
          <p:cNvSpPr/>
          <p:nvPr/>
        </p:nvSpPr>
        <p:spPr>
          <a:xfrm>
            <a:off x="5961888" y="4983480"/>
            <a:ext cx="9281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D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chunks</a:t>
            </a:r>
            <a:endParaRPr lang="en-US" sz="900"/>
          </a:p>
        </p:txBody>
      </p:sp>
      <p:sp>
        <p:nvSpPr>
          <p:cNvPr id="68" name="Shape 47"/>
          <p:cNvSpPr/>
          <p:nvPr/>
        </p:nvSpPr>
        <p:spPr>
          <a:xfrm>
            <a:off x="7072884" y="4983480"/>
            <a:ext cx="1312164" cy="566928"/>
          </a:xfrm>
          <a:prstGeom prst="roundRect">
            <a:avLst>
              <a:gd name="adj" fmla="val 8065"/>
            </a:avLst>
          </a:prstGeom>
          <a:solidFill>
            <a:srgbClr val="FDEBD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9" name="Image 19" descr="/home/claude/assets/icons/ticketemb_B9770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64324" y="5175504"/>
            <a:ext cx="182880" cy="182880"/>
          </a:xfrm>
          <a:prstGeom prst="rect">
            <a:avLst/>
          </a:prstGeom>
        </p:spPr>
      </p:pic>
      <p:sp>
        <p:nvSpPr>
          <p:cNvPr id="70" name="Text 48"/>
          <p:cNvSpPr/>
          <p:nvPr/>
        </p:nvSpPr>
        <p:spPr>
          <a:xfrm>
            <a:off x="7383780" y="4983480"/>
            <a:ext cx="9281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embeddings</a:t>
            </a:r>
            <a:endParaRPr lang="en-US" sz="900"/>
          </a:p>
        </p:txBody>
      </p:sp>
      <p:sp>
        <p:nvSpPr>
          <p:cNvPr id="71" name="Shape 49"/>
          <p:cNvSpPr/>
          <p:nvPr/>
        </p:nvSpPr>
        <p:spPr>
          <a:xfrm>
            <a:off x="8732520" y="1737360"/>
            <a:ext cx="2999232" cy="1051560"/>
          </a:xfrm>
          <a:prstGeom prst="roundRect">
            <a:avLst>
              <a:gd name="adj" fmla="val 6087"/>
            </a:avLst>
          </a:prstGeom>
          <a:solidFill>
            <a:srgbClr val="13294B"/>
          </a:solidFill>
          <a:ln w="12700">
            <a:solidFill>
              <a:srgbClr val="5B6B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2" name="Image 20" descr="/home/claude/assets/icons/gemini_8AB4F8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30968" y="1920240"/>
            <a:ext cx="402336" cy="402336"/>
          </a:xfrm>
          <a:prstGeom prst="rect">
            <a:avLst/>
          </a:prstGeom>
        </p:spPr>
      </p:pic>
      <p:sp>
        <p:nvSpPr>
          <p:cNvPr id="73" name="Text 50"/>
          <p:cNvSpPr/>
          <p:nvPr/>
        </p:nvSpPr>
        <p:spPr>
          <a:xfrm>
            <a:off x="8732520" y="2395728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200"/>
          </a:p>
        </p:txBody>
      </p:sp>
      <p:sp>
        <p:nvSpPr>
          <p:cNvPr id="74" name="Shape 51"/>
          <p:cNvSpPr/>
          <p:nvPr/>
        </p:nvSpPr>
        <p:spPr>
          <a:xfrm>
            <a:off x="8732520" y="3063240"/>
            <a:ext cx="2999232" cy="1051560"/>
          </a:xfrm>
          <a:prstGeom prst="roundRect">
            <a:avLst>
              <a:gd name="adj" fmla="val 6087"/>
            </a:avLst>
          </a:prstGeom>
          <a:solidFill>
            <a:srgbClr val="13294B"/>
          </a:solidFill>
          <a:ln w="12700">
            <a:solidFill>
              <a:srgbClr val="5B6B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5" name="Image 21" descr="/home/claude/assets/icons/claudeai_F5A25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030968" y="3246120"/>
            <a:ext cx="402336" cy="402336"/>
          </a:xfrm>
          <a:prstGeom prst="rect">
            <a:avLst/>
          </a:prstGeom>
        </p:spPr>
      </p:pic>
      <p:sp>
        <p:nvSpPr>
          <p:cNvPr id="76" name="Text 52"/>
          <p:cNvSpPr/>
          <p:nvPr/>
        </p:nvSpPr>
        <p:spPr>
          <a:xfrm>
            <a:off x="8732520" y="3721608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200"/>
          </a:p>
        </p:txBody>
      </p:sp>
      <p:sp>
        <p:nvSpPr>
          <p:cNvPr id="77" name="Shape 53"/>
          <p:cNvSpPr/>
          <p:nvPr/>
        </p:nvSpPr>
        <p:spPr>
          <a:xfrm>
            <a:off x="8732520" y="4389120"/>
            <a:ext cx="2999232" cy="1828800"/>
          </a:xfrm>
          <a:prstGeom prst="roundRect">
            <a:avLst>
              <a:gd name="adj" fmla="val 3000"/>
            </a:avLst>
          </a:prstGeom>
          <a:solidFill>
            <a:srgbClr val="13294B">
              <a:alpha val="60000"/>
            </a:srgbClr>
          </a:solidFill>
          <a:ln w="12700">
            <a:solidFill>
              <a:srgbClr val="5B6B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54"/>
          <p:cNvSpPr/>
          <p:nvPr/>
        </p:nvSpPr>
        <p:spPr>
          <a:xfrm>
            <a:off x="8897112" y="449884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1200"/>
          </a:p>
        </p:txBody>
      </p:sp>
      <p:sp>
        <p:nvSpPr>
          <p:cNvPr id="79" name="Shape 55"/>
          <p:cNvSpPr/>
          <p:nvPr/>
        </p:nvSpPr>
        <p:spPr>
          <a:xfrm>
            <a:off x="8897112" y="4892040"/>
            <a:ext cx="457200" cy="0"/>
          </a:xfrm>
          <a:prstGeom prst="line">
            <a:avLst/>
          </a:prstGeom>
          <a:noFill/>
          <a:ln w="25400">
            <a:solidFill>
              <a:srgbClr val="8A99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56"/>
          <p:cNvSpPr/>
          <p:nvPr/>
        </p:nvSpPr>
        <p:spPr>
          <a:xfrm>
            <a:off x="9445752" y="475488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integration</a:t>
            </a:r>
            <a:endParaRPr lang="en-US" sz="1000"/>
          </a:p>
        </p:txBody>
      </p:sp>
      <p:sp>
        <p:nvSpPr>
          <p:cNvPr id="81" name="Shape 57"/>
          <p:cNvSpPr/>
          <p:nvPr/>
        </p:nvSpPr>
        <p:spPr>
          <a:xfrm>
            <a:off x="8897112" y="5276088"/>
            <a:ext cx="457200" cy="0"/>
          </a:xfrm>
          <a:prstGeom prst="line">
            <a:avLst/>
          </a:prstGeom>
          <a:noFill/>
          <a:ln w="25400">
            <a:solidFill>
              <a:srgbClr val="3FBF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58"/>
          <p:cNvSpPr/>
          <p:nvPr/>
        </p:nvSpPr>
        <p:spPr>
          <a:xfrm>
            <a:off x="9445752" y="5138928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API call</a:t>
            </a:r>
            <a:endParaRPr lang="en-US" sz="1000"/>
          </a:p>
        </p:txBody>
      </p:sp>
      <p:sp>
        <p:nvSpPr>
          <p:cNvPr id="83" name="Shape 59"/>
          <p:cNvSpPr/>
          <p:nvPr/>
        </p:nvSpPr>
        <p:spPr>
          <a:xfrm>
            <a:off x="8897112" y="5660136"/>
            <a:ext cx="457200" cy="0"/>
          </a:xfrm>
          <a:prstGeom prst="line">
            <a:avLst/>
          </a:prstGeom>
          <a:noFill/>
          <a:ln w="25400">
            <a:solidFill>
              <a:srgbClr val="8A99B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60"/>
          <p:cNvSpPr/>
          <p:nvPr/>
        </p:nvSpPr>
        <p:spPr>
          <a:xfrm>
            <a:off x="9445752" y="5522976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API calls</a:t>
            </a:r>
            <a:endParaRPr lang="en-US" sz="1000"/>
          </a:p>
        </p:txBody>
      </p:sp>
      <p:sp>
        <p:nvSpPr>
          <p:cNvPr id="85" name="Shape 61"/>
          <p:cNvSpPr/>
          <p:nvPr/>
        </p:nvSpPr>
        <p:spPr>
          <a:xfrm>
            <a:off x="3108960" y="3619195"/>
            <a:ext cx="182880" cy="289865"/>
          </a:xfrm>
          <a:prstGeom prst="line">
            <a:avLst/>
          </a:prstGeom>
          <a:noFill/>
          <a:ln w="19050">
            <a:solidFill>
              <a:srgbClr val="8A99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6" name="Shape 62"/>
          <p:cNvSpPr/>
          <p:nvPr/>
        </p:nvSpPr>
        <p:spPr>
          <a:xfrm>
            <a:off x="5303520" y="2755087"/>
            <a:ext cx="182880" cy="1153973"/>
          </a:xfrm>
          <a:prstGeom prst="line">
            <a:avLst/>
          </a:prstGeom>
          <a:noFill/>
          <a:ln w="19050">
            <a:solidFill>
              <a:srgbClr val="8A99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7" name="Shape 63"/>
          <p:cNvSpPr/>
          <p:nvPr/>
        </p:nvSpPr>
        <p:spPr>
          <a:xfrm>
            <a:off x="4297680" y="4297680"/>
            <a:ext cx="0" cy="411480"/>
          </a:xfrm>
          <a:prstGeom prst="line">
            <a:avLst/>
          </a:prstGeom>
          <a:noFill/>
          <a:ln w="19050">
            <a:solidFill>
              <a:srgbClr val="8A99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64"/>
          <p:cNvSpPr/>
          <p:nvPr/>
        </p:nvSpPr>
        <p:spPr>
          <a:xfrm>
            <a:off x="7018020" y="4160520"/>
            <a:ext cx="0" cy="320040"/>
          </a:xfrm>
          <a:prstGeom prst="line">
            <a:avLst/>
          </a:prstGeom>
          <a:noFill/>
          <a:ln w="19050">
            <a:solidFill>
              <a:srgbClr val="8A99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65"/>
          <p:cNvSpPr/>
          <p:nvPr/>
        </p:nvSpPr>
        <p:spPr>
          <a:xfrm>
            <a:off x="8549640" y="2263140"/>
            <a:ext cx="182880" cy="322326"/>
          </a:xfrm>
          <a:prstGeom prst="line">
            <a:avLst/>
          </a:prstGeom>
          <a:noFill/>
          <a:ln w="19050">
            <a:solidFill>
              <a:srgbClr val="3FBF8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66"/>
          <p:cNvSpPr/>
          <p:nvPr/>
        </p:nvSpPr>
        <p:spPr>
          <a:xfrm>
            <a:off x="8549640" y="3554730"/>
            <a:ext cx="182880" cy="34290"/>
          </a:xfrm>
          <a:prstGeom prst="line">
            <a:avLst/>
          </a:prstGeom>
          <a:noFill/>
          <a:ln w="19050">
            <a:solidFill>
              <a:srgbClr val="8A99B8"/>
            </a:solidFill>
            <a:prstDash val="dash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6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IT/Admin Helpdesk Router</a:t>
            </a:r>
            <a:endParaRPr lang="en-US" sz="900"/>
          </a:p>
        </p:txBody>
      </p:sp>
      <p:sp>
        <p:nvSpPr>
          <p:cNvPr id="92" name="Text 6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95528" y="246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Cognizant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795528" y="5669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O C H I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Helpdesk Management System automates support ticket handling by combining classification, priority assignment, duplicate detection, and RAG-based resolution — reducing manual effort and routing complex tickets to the right team.</a:t>
            </a:r>
            <a:endParaRPr lang="en-US" sz="1450"/>
          </a:p>
        </p:txBody>
      </p:sp>
      <p:sp>
        <p:nvSpPr>
          <p:cNvPr id="8" name="Shape 6"/>
          <p:cNvSpPr/>
          <p:nvPr/>
        </p:nvSpPr>
        <p:spPr>
          <a:xfrm>
            <a:off x="502920" y="379476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/home/claude/assets/icons/efficiency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886200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376732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response time</a:t>
            </a:r>
            <a:endParaRPr lang="en-US" sz="1400"/>
          </a:p>
        </p:txBody>
      </p:sp>
      <p:sp>
        <p:nvSpPr>
          <p:cNvPr id="11" name="Shape 8"/>
          <p:cNvSpPr/>
          <p:nvPr/>
        </p:nvSpPr>
        <p:spPr>
          <a:xfrm>
            <a:off x="502920" y="436168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assets/icons/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453128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433425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resolution accuracy</a:t>
            </a:r>
            <a:endParaRPr lang="en-US" sz="1400"/>
          </a:p>
        </p:txBody>
      </p:sp>
      <p:sp>
        <p:nvSpPr>
          <p:cNvPr id="14" name="Shape 10"/>
          <p:cNvSpPr/>
          <p:nvPr/>
        </p:nvSpPr>
        <p:spPr>
          <a:xfrm>
            <a:off x="502920" y="4928616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/home/claude/assets/icons/history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5020056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490118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&amp; feedback trail</a:t>
            </a:r>
            <a:endParaRPr lang="en-US" sz="1400"/>
          </a:p>
        </p:txBody>
      </p:sp>
      <p:sp>
        <p:nvSpPr>
          <p:cNvPr id="17" name="Shape 12"/>
          <p:cNvSpPr/>
          <p:nvPr/>
        </p:nvSpPr>
        <p:spPr>
          <a:xfrm>
            <a:off x="502920" y="5495544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/home/claude/assets/icons/escalat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5586984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5840" y="546811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escalation flow</a:t>
            </a:r>
            <a:endParaRPr lang="en-US" sz="1400"/>
          </a:p>
        </p:txBody>
      </p:sp>
      <p:sp>
        <p:nvSpPr>
          <p:cNvPr id="20" name="Shape 14"/>
          <p:cNvSpPr/>
          <p:nvPr/>
        </p:nvSpPr>
        <p:spPr>
          <a:xfrm>
            <a:off x="7955280" y="210312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081735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4" descr="/home/claude/assets/icons/robo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2423160"/>
            <a:ext cx="914400" cy="9144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13816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Impact</a:t>
            </a:r>
            <a:endParaRPr lang="en-US" sz="1300"/>
          </a:p>
        </p:txBody>
      </p:sp>
      <p:sp>
        <p:nvSpPr>
          <p:cNvPr id="23" name="Text 16"/>
          <p:cNvSpPr/>
          <p:nvPr/>
        </p:nvSpPr>
        <p:spPr>
          <a:xfrm>
            <a:off x="8275320" y="3931920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response time, support efficiency, and ticket management accuracy — with reliable tracking end to end.</a:t>
            </a:r>
            <a:endParaRPr lang="en-US" sz="1100"/>
          </a:p>
        </p:txBody>
      </p:sp>
      <p:sp>
        <p:nvSpPr>
          <p:cNvPr id="24" name="Text 17"/>
          <p:cNvSpPr/>
          <p:nvPr/>
        </p:nvSpPr>
        <p:spPr>
          <a:xfrm>
            <a:off x="502920" y="5897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IT/Admin Helpdesk Router</dc:title>
  <dc:subject>PptxGenJS Presentation</dc:subject>
  <dc:creator>Cognizant Kochi</dc:creator>
  <cp:revision>1</cp:revision>
  <dcterms:created xsi:type="dcterms:W3CDTF">2026-07-06T06:04:14Z</dcterms:created>
  <dcterms:modified xsi:type="dcterms:W3CDTF">2026-07-06T06:12:49Z</dcterms:modified>
</cp:coreProperties>
</file>